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38"/>
  </p:notesMasterIdLst>
  <p:handoutMasterIdLst>
    <p:handoutMasterId r:id="rId39"/>
  </p:handoutMasterIdLst>
  <p:sldIdLst>
    <p:sldId id="256" r:id="rId5"/>
    <p:sldId id="257" r:id="rId6"/>
    <p:sldId id="269" r:id="rId7"/>
    <p:sldId id="270" r:id="rId8"/>
    <p:sldId id="271" r:id="rId9"/>
    <p:sldId id="272" r:id="rId10"/>
    <p:sldId id="273" r:id="rId11"/>
    <p:sldId id="274" r:id="rId12"/>
    <p:sldId id="276" r:id="rId13"/>
    <p:sldId id="277" r:id="rId14"/>
    <p:sldId id="278" r:id="rId15"/>
    <p:sldId id="279" r:id="rId16"/>
    <p:sldId id="280" r:id="rId17"/>
    <p:sldId id="281" r:id="rId18"/>
    <p:sldId id="282" r:id="rId19"/>
    <p:sldId id="283" r:id="rId20"/>
    <p:sldId id="285" r:id="rId21"/>
    <p:sldId id="284"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268" r:id="rId37"/>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5/14/2026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5/14/2026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r>
              <a:rPr lang="en-US" sz="1600" b="1" dirty="0">
                <a:solidFill>
                  <a:srgbClr val="000000"/>
                </a:solidFill>
                <a:latin typeface="Times New Roman" panose="02020603050405020304" pitchFamily="18" charset="0"/>
                <a:cs typeface="Times New Roman" panose="02020603050405020304" pitchFamily="18" charset="0"/>
              </a:rPr>
              <a:t>Project Presentation of Industry Oriented Hands</a:t>
            </a:r>
            <a:r>
              <a:rPr lang="en-US" b="1" dirty="0">
                <a:solidFill>
                  <a:srgbClr val="000000"/>
                </a:solidFill>
                <a:latin typeface="Times New Roman" panose="02020603050405020304" pitchFamily="18" charset="0"/>
                <a:cs typeface="Times New Roman" panose="02020603050405020304" pitchFamily="18" charset="0"/>
              </a:rPr>
              <a:t> </a:t>
            </a:r>
            <a:r>
              <a:rPr lang="en-US" sz="1600" b="1" dirty="0">
                <a:solidFill>
                  <a:srgbClr val="000000"/>
                </a:solidFill>
                <a:latin typeface="Times New Roman" panose="02020603050405020304" pitchFamily="18" charset="0"/>
                <a:cs typeface="Times New Roman" panose="02020603050405020304" pitchFamily="18" charset="0"/>
              </a:rPr>
              <a:t>on Experience (22CS422)</a:t>
            </a:r>
            <a:endParaRPr lang="en-US" dirty="0">
              <a:latin typeface="Times New Roman" panose="02020603050405020304" pitchFamily="18" charset="0"/>
              <a:cs typeface="Times New Roman" panose="02020603050405020304" pitchFamily="18" charset="0"/>
            </a:endParaRPr>
          </a:p>
          <a:p>
            <a:pPr algn="ctr">
              <a:spcBef>
                <a:spcPts val="400"/>
              </a:spcBef>
            </a:pPr>
            <a:r>
              <a:rPr lang="en-US" dirty="0">
                <a:solidFill>
                  <a:srgbClr val="000000"/>
                </a:solidFill>
                <a:latin typeface="Times New Roman" panose="02020603050405020304" pitchFamily="18" charset="0"/>
                <a:cs typeface="Times New Roman" panose="02020603050405020304" pitchFamily="18" charset="0"/>
              </a:rPr>
              <a:t>On</a:t>
            </a:r>
            <a:endParaRPr lang="en-US" dirty="0">
              <a:latin typeface="Times New Roman" panose="02020603050405020304" pitchFamily="18" charset="0"/>
              <a:cs typeface="Times New Roman" panose="02020603050405020304" pitchFamily="18" charset="0"/>
            </a:endParaRPr>
          </a:p>
          <a:p>
            <a:pPr algn="ctr">
              <a:spcBef>
                <a:spcPts val="400"/>
              </a:spcBef>
            </a:pPr>
            <a:r>
              <a:rPr lang="en-US" sz="4000" dirty="0">
                <a:solidFill>
                  <a:srgbClr val="000000"/>
                </a:solidFill>
                <a:latin typeface="Times New Roman" panose="02020603050405020304" pitchFamily="18" charset="0"/>
                <a:cs typeface="Times New Roman" panose="02020603050405020304" pitchFamily="18" charset="0"/>
              </a:rPr>
              <a:t>HOSTEL MANAGEMENT SYSTEM</a:t>
            </a:r>
            <a:endParaRPr lang="en-US" dirty="0">
              <a:latin typeface="Times New Roman" panose="02020603050405020304" pitchFamily="18" charset="0"/>
              <a:cs typeface="Times New Roman" panose="02020603050405020304" pitchFamily="18" charset="0"/>
            </a:endParaRPr>
          </a:p>
          <a:p>
            <a:pPr algn="ctr">
              <a:spcBef>
                <a:spcPts val="400"/>
              </a:spcBef>
            </a:pP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Manan Jindal       Nikunj Singla     Sarthak Midha    Mohd Aatif </a:t>
            </a:r>
            <a:endParaRPr lang="en-US" dirty="0">
              <a:latin typeface="Times New Roman" panose="02020603050405020304" pitchFamily="18" charset="0"/>
              <a:cs typeface="Times New Roman" panose="02020603050405020304" pitchFamily="18" charset="0"/>
            </a:endParaRPr>
          </a:p>
          <a:p>
            <a:pPr algn="ctr">
              <a:spcBef>
                <a:spcPts val="400"/>
              </a:spcBef>
            </a:pPr>
            <a:r>
              <a:rPr lang="en-US" dirty="0">
                <a:solidFill>
                  <a:srgbClr val="000000"/>
                </a:solidFill>
                <a:latin typeface="Times New Roman" panose="02020603050405020304" pitchFamily="18" charset="0"/>
                <a:cs typeface="Times New Roman" panose="02020603050405020304" pitchFamily="18" charset="0"/>
              </a:rPr>
              <a:t>2210991871         2210991985       2210992263        2210991928</a:t>
            </a:r>
            <a:endParaRPr lang="en-US" dirty="0">
              <a:latin typeface="Times New Roman" panose="02020603050405020304" pitchFamily="18" charset="0"/>
              <a:cs typeface="Times New Roman" panose="02020603050405020304" pitchFamily="18" charset="0"/>
            </a:endParaRPr>
          </a:p>
          <a:p>
            <a:pPr>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ctr">
              <a:spcBef>
                <a:spcPts val="400"/>
              </a:spcBef>
            </a:pPr>
            <a:r>
              <a:rPr lang="en-US" dirty="0">
                <a:solidFill>
                  <a:srgbClr val="000000"/>
                </a:solidFill>
                <a:latin typeface="Times New Roman" panose="02020603050405020304" pitchFamily="18" charset="0"/>
                <a:cs typeface="Times New Roman" panose="02020603050405020304" pitchFamily="18" charset="0"/>
              </a:rPr>
              <a:t>Supervised By</a:t>
            </a:r>
            <a:endParaRPr lang="en-US" dirty="0">
              <a:latin typeface="Times New Roman" panose="02020603050405020304" pitchFamily="18" charset="0"/>
              <a:cs typeface="Times New Roman" panose="02020603050405020304" pitchFamily="18" charset="0"/>
            </a:endParaRPr>
          </a:p>
          <a:p>
            <a:pPr algn="ctr">
              <a:spcBef>
                <a:spcPts val="400"/>
              </a:spcBef>
            </a:pPr>
            <a:r>
              <a:rPr lang="en-US" dirty="0">
                <a:solidFill>
                  <a:srgbClr val="000000"/>
                </a:solidFill>
                <a:latin typeface="Times New Roman" panose="02020603050405020304" pitchFamily="18" charset="0"/>
                <a:cs typeface="Times New Roman" panose="02020603050405020304" pitchFamily="18" charset="0"/>
              </a:rPr>
              <a:t>Mrs. Preeti Saini</a:t>
            </a:r>
            <a:endParaRPr lang="en-US" dirty="0">
              <a:latin typeface="Times New Roman" panose="02020603050405020304" pitchFamily="18" charset="0"/>
              <a:cs typeface="Times New Roman" panose="02020603050405020304" pitchFamily="18" charset="0"/>
            </a:endParaRPr>
          </a:p>
          <a:p>
            <a:pPr>
              <a:buNone/>
            </a:pP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ctr">
              <a:spcBef>
                <a:spcPts val="400"/>
              </a:spcBef>
            </a:pPr>
            <a:r>
              <a:rPr lang="en-US" sz="2000" dirty="0">
                <a:solidFill>
                  <a:srgbClr val="000000"/>
                </a:solidFill>
                <a:latin typeface="Times New Roman" panose="02020603050405020304" pitchFamily="18" charset="0"/>
                <a:cs typeface="Times New Roman" panose="02020603050405020304" pitchFamily="18" charset="0"/>
              </a:rPr>
              <a:t>Department of Computer Science and Engineering, </a:t>
            </a:r>
            <a:endParaRPr lang="en-US" dirty="0">
              <a:latin typeface="Times New Roman" panose="02020603050405020304" pitchFamily="18" charset="0"/>
              <a:cs typeface="Times New Roman" panose="02020603050405020304" pitchFamily="18" charset="0"/>
            </a:endParaRPr>
          </a:p>
          <a:p>
            <a:pPr algn="ctr">
              <a:spcBef>
                <a:spcPts val="400"/>
              </a:spcBef>
            </a:pPr>
            <a:r>
              <a:rPr lang="en-US" sz="2000" dirty="0">
                <a:solidFill>
                  <a:srgbClr val="000000"/>
                </a:solidFill>
                <a:latin typeface="Times New Roman" panose="02020603050405020304" pitchFamily="18" charset="0"/>
                <a:cs typeface="Times New Roman" panose="02020603050405020304" pitchFamily="18" charset="0"/>
              </a:rPr>
              <a:t>Chitkara University, Punjab</a:t>
            </a:r>
            <a:endParaRPr lang="en-US" dirty="0">
              <a:latin typeface="Times New Roman" panose="02020603050405020304" pitchFamily="18" charset="0"/>
              <a:cs typeface="Times New Roman" panose="02020603050405020304" pitchFamily="18" charset="0"/>
            </a:endParaRP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nSpc>
                <a:spcPct val="100000"/>
              </a:lnSpc>
            </a:pPr>
            <a:r>
              <a:rPr lang="en-IN" sz="3200" dirty="0"/>
              <a:t>ABSTRACT</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hangingPunct="0">
              <a:buNone/>
            </a:pPr>
            <a:r>
              <a:rPr lang="en-US" sz="1400" dirty="0"/>
              <a:t>As the name specifies “HOSTEL MANAGEMENT SYSTEM” is software developed for managing various activities in the hostel. For the past few years the number of educational institutions is increasing rapidly. Thereby the number of hostels is also increasing for the accommodation of the students studying in this institution. And hence there is a lot of strain on the person who are running the hostel and software’s are not usually used in this context. This particular project deals with the problems on managing a hostel and avoids the problems which occur when carried manually. </a:t>
            </a:r>
          </a:p>
          <a:p>
            <a:pPr hangingPunct="0">
              <a:buNone/>
            </a:pPr>
            <a:endParaRPr lang="en-US" sz="1400" dirty="0"/>
          </a:p>
          <a:p>
            <a:pPr hangingPunct="0">
              <a:buNone/>
            </a:pPr>
            <a:r>
              <a:rPr lang="en-US" sz="1400" dirty="0"/>
              <a:t>Identification of the drawbacks of the existing system leads to the designing of computerized system that will be compatible to the existing system with the system Which is more user friendly and more GUI oriented. We can improve the efficiency of the system, thus overcome the drawbacks of the existing system. </a:t>
            </a:r>
          </a:p>
          <a:p>
            <a:pPr hangingPunct="0">
              <a:buNone/>
            </a:pPr>
            <a:endParaRPr lang="en-US" sz="1400" dirty="0"/>
          </a:p>
          <a:p>
            <a:pPr lvl="0" hangingPunct="0"/>
            <a:r>
              <a:rPr lang="en-US" sz="1400" dirty="0"/>
              <a:t>Less human error  </a:t>
            </a:r>
          </a:p>
          <a:p>
            <a:pPr lvl="0" hangingPunct="0"/>
            <a:r>
              <a:rPr lang="en-US" sz="1400" dirty="0"/>
              <a:t>Strength and strain of manual labor can be reduced  </a:t>
            </a:r>
          </a:p>
          <a:p>
            <a:pPr lvl="0" hangingPunct="0"/>
            <a:r>
              <a:rPr lang="en-US" sz="1400" dirty="0"/>
              <a:t>High security  </a:t>
            </a:r>
          </a:p>
          <a:p>
            <a:pPr lvl="0" hangingPunct="0"/>
            <a:r>
              <a:rPr lang="en-US" sz="1400" dirty="0"/>
              <a:t>Data redundancy can be avoided to some extent  </a:t>
            </a:r>
          </a:p>
          <a:p>
            <a:pPr lvl="0" hangingPunct="0"/>
            <a:r>
              <a:rPr lang="en-US" sz="1400" dirty="0"/>
              <a:t>Data consistency </a:t>
            </a:r>
          </a:p>
          <a:p>
            <a:pPr lvl="0" hangingPunct="0"/>
            <a:r>
              <a:rPr lang="en-US" sz="1400" dirty="0"/>
              <a:t>Easy to handle </a:t>
            </a:r>
          </a:p>
          <a:p>
            <a:pPr lvl="0" hangingPunct="0"/>
            <a:r>
              <a:rPr lang="en-US" sz="1400" dirty="0"/>
              <a:t>Easy data updating </a:t>
            </a:r>
          </a:p>
          <a:p>
            <a:pPr lvl="0" hangingPunct="0"/>
            <a:r>
              <a:rPr lang="en-US" sz="1400" dirty="0"/>
              <a:t>Easy record keeping </a:t>
            </a:r>
          </a:p>
          <a:p>
            <a:pPr lvl="0" hangingPunct="0"/>
            <a:r>
              <a:rPr lang="en-US" sz="1400" dirty="0"/>
              <a:t>Backup data can be easily generated </a:t>
            </a:r>
          </a:p>
          <a:p>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2498C-DC96-DF37-1505-17EE5908D5BD}"/>
              </a:ext>
            </a:extLst>
          </p:cNvPr>
          <p:cNvSpPr>
            <a:spLocks noGrp="1"/>
          </p:cNvSpPr>
          <p:nvPr>
            <p:ph type="title"/>
          </p:nvPr>
        </p:nvSpPr>
        <p:spPr/>
        <p:txBody>
          <a:bodyPr/>
          <a:lstStyle/>
          <a:p>
            <a:r>
              <a:rPr lang="en-US" sz="3200" dirty="0"/>
              <a:t>     INTRODUCTION</a:t>
            </a:r>
            <a:endParaRPr lang="en-IN" sz="3200" dirty="0"/>
          </a:p>
        </p:txBody>
      </p:sp>
      <p:sp>
        <p:nvSpPr>
          <p:cNvPr id="3" name="Subtitle 2">
            <a:extLst>
              <a:ext uri="{FF2B5EF4-FFF2-40B4-BE49-F238E27FC236}">
                <a16:creationId xmlns:a16="http://schemas.microsoft.com/office/drawing/2014/main" id="{96229EBE-5CBF-7B4A-210B-9639E318767D}"/>
              </a:ext>
            </a:extLst>
          </p:cNvPr>
          <p:cNvSpPr>
            <a:spLocks noGrp="1"/>
          </p:cNvSpPr>
          <p:nvPr>
            <p:ph type="subTitle"/>
          </p:nvPr>
        </p:nvSpPr>
        <p:spPr>
          <a:xfrm>
            <a:off x="359057" y="1987978"/>
            <a:ext cx="8229240" cy="3977280"/>
          </a:xfrm>
        </p:spPr>
        <p:txBody>
          <a:bodyPr/>
          <a:lstStyle/>
          <a:p>
            <a:pPr>
              <a:buNone/>
            </a:pPr>
            <a:r>
              <a:rPr lang="en-IN" sz="1400" b="1" dirty="0"/>
              <a:t>Hostel Management System has two Modules i.e. Admin and user</a:t>
            </a:r>
          </a:p>
          <a:p>
            <a:pPr>
              <a:buNone/>
            </a:pPr>
            <a:endParaRPr lang="en-IN" sz="1400" b="1" dirty="0"/>
          </a:p>
          <a:p>
            <a:pPr>
              <a:buNone/>
            </a:pPr>
            <a:r>
              <a:rPr lang="en-US" sz="1400" b="1" u="sng" dirty="0"/>
              <a:t>Admin Panel</a:t>
            </a:r>
            <a:r>
              <a:rPr lang="en-US" sz="1400" dirty="0"/>
              <a:t> </a:t>
            </a:r>
          </a:p>
          <a:p>
            <a:pPr marL="82296" indent="0" hangingPunct="0">
              <a:buNone/>
            </a:pPr>
            <a:r>
              <a:rPr lang="en-US" sz="1400" b="1" dirty="0"/>
              <a:t>1. Admin Login</a:t>
            </a:r>
            <a:r>
              <a:rPr lang="en-US" sz="1400" dirty="0"/>
              <a:t> </a:t>
            </a:r>
          </a:p>
          <a:p>
            <a:pPr marL="82296" indent="0" hangingPunct="0">
              <a:buNone/>
            </a:pPr>
            <a:r>
              <a:rPr lang="en-US" sz="1400" dirty="0"/>
              <a:t>Admin can login through login form.</a:t>
            </a:r>
          </a:p>
          <a:p>
            <a:pPr marL="82296" indent="0" hangingPunct="0">
              <a:buNone/>
            </a:pPr>
            <a:r>
              <a:rPr lang="en-US" sz="1400" b="1" dirty="0"/>
              <a:t>2. Admin Profile</a:t>
            </a:r>
            <a:endParaRPr lang="en-US" sz="1400" dirty="0"/>
          </a:p>
          <a:p>
            <a:pPr marL="82296" indent="0" hangingPunct="0">
              <a:buNone/>
            </a:pPr>
            <a:r>
              <a:rPr lang="en-US" sz="1400" dirty="0"/>
              <a:t>Admin can manage his own profile.  Admin can also change his password</a:t>
            </a:r>
          </a:p>
          <a:p>
            <a:pPr marL="82296" indent="0" hangingPunct="0">
              <a:buNone/>
            </a:pPr>
            <a:r>
              <a:rPr lang="en-US" sz="1400" dirty="0"/>
              <a:t> </a:t>
            </a:r>
            <a:r>
              <a:rPr lang="en-US" sz="1400" b="1" dirty="0"/>
              <a:t>3. Courses</a:t>
            </a:r>
            <a:endParaRPr lang="en-US" sz="1400" dirty="0"/>
          </a:p>
          <a:p>
            <a:pPr marL="82296" indent="0" hangingPunct="0">
              <a:buNone/>
            </a:pPr>
            <a:r>
              <a:rPr lang="en-US" sz="1400" dirty="0"/>
              <a:t>Admin can create add course, edit courses and also delete the course</a:t>
            </a:r>
          </a:p>
          <a:p>
            <a:pPr marL="82296" indent="0" hangingPunct="0">
              <a:buNone/>
            </a:pPr>
            <a:r>
              <a:rPr lang="en-US" sz="1400" b="1" dirty="0"/>
              <a:t>4. Rooms</a:t>
            </a:r>
            <a:endParaRPr lang="en-US" sz="1400" dirty="0"/>
          </a:p>
          <a:p>
            <a:pPr marL="82296" indent="0" hangingPunct="0">
              <a:buNone/>
            </a:pPr>
            <a:r>
              <a:rPr lang="en-US" sz="1400" dirty="0"/>
              <a:t>Admin can create rooms and allots seater to particular rooms and assign the fees.</a:t>
            </a:r>
          </a:p>
          <a:p>
            <a:pPr marL="82296" indent="0" hangingPunct="0">
              <a:buNone/>
            </a:pPr>
            <a:r>
              <a:rPr lang="en-US" sz="1400" b="1" dirty="0"/>
              <a:t>5. Registration</a:t>
            </a:r>
            <a:endParaRPr lang="en-US" sz="1400" dirty="0"/>
          </a:p>
          <a:p>
            <a:pPr marL="82296" indent="0" hangingPunct="0">
              <a:buNone/>
            </a:pPr>
            <a:r>
              <a:rPr lang="en-US" sz="1400" dirty="0"/>
              <a:t>Admin can create student profile and allot the rooms.</a:t>
            </a:r>
          </a:p>
          <a:p>
            <a:pPr marL="82296" indent="0" hangingPunct="0">
              <a:buNone/>
            </a:pPr>
            <a:r>
              <a:rPr lang="en-US" sz="1400" b="1" dirty="0"/>
              <a:t> 6. Manage the Registration</a:t>
            </a:r>
            <a:endParaRPr lang="en-US" sz="1400" dirty="0"/>
          </a:p>
          <a:p>
            <a:pPr marL="82296" indent="0" hangingPunct="0">
              <a:buNone/>
            </a:pPr>
            <a:r>
              <a:rPr lang="en-US" sz="1400" dirty="0"/>
              <a:t>Admin can manage the all the student Profile. Take a print out of all profiles and also delete the profile.</a:t>
            </a:r>
          </a:p>
          <a:p>
            <a:pPr marL="82296" indent="0" hangingPunct="0">
              <a:buNone/>
            </a:pPr>
            <a:r>
              <a:rPr lang="en-US" sz="1400" b="1" dirty="0"/>
              <a:t> 7. Complaints</a:t>
            </a:r>
            <a:endParaRPr lang="en-US" sz="1400" dirty="0"/>
          </a:p>
          <a:p>
            <a:pPr marL="82296" indent="0" hangingPunct="0">
              <a:buNone/>
            </a:pPr>
            <a:r>
              <a:rPr lang="en-US" sz="1400" dirty="0"/>
              <a:t>Admin can manage the all the student complaints and take the appropriate action.</a:t>
            </a:r>
          </a:p>
          <a:p>
            <a:pPr marL="0" indent="0">
              <a:buNone/>
            </a:pPr>
            <a:endParaRPr lang="en-IN" sz="1400" dirty="0"/>
          </a:p>
        </p:txBody>
      </p:sp>
    </p:spTree>
    <p:extLst>
      <p:ext uri="{BB962C8B-B14F-4D97-AF65-F5344CB8AC3E}">
        <p14:creationId xmlns:p14="http://schemas.microsoft.com/office/powerpoint/2010/main" val="1035381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9E5DA9B-FD0E-E4FB-8780-1202526BF767}"/>
              </a:ext>
            </a:extLst>
          </p:cNvPr>
          <p:cNvSpPr>
            <a:spLocks noGrp="1"/>
          </p:cNvSpPr>
          <p:nvPr>
            <p:ph type="subTitle"/>
          </p:nvPr>
        </p:nvSpPr>
        <p:spPr>
          <a:xfrm>
            <a:off x="378542" y="345991"/>
            <a:ext cx="8229240" cy="3977280"/>
          </a:xfrm>
        </p:spPr>
        <p:txBody>
          <a:bodyPr/>
          <a:lstStyle/>
          <a:p>
            <a:pPr marL="82296" indent="0" hangingPunct="0">
              <a:buNone/>
            </a:pPr>
            <a:r>
              <a:rPr lang="en-US" sz="1400" dirty="0"/>
              <a:t>8. </a:t>
            </a:r>
            <a:r>
              <a:rPr lang="en-US" sz="1400" b="1" dirty="0"/>
              <a:t>Feedback</a:t>
            </a:r>
            <a:r>
              <a:rPr lang="en-US" sz="1400" dirty="0"/>
              <a:t> </a:t>
            </a:r>
          </a:p>
          <a:p>
            <a:pPr marL="82296" indent="0" hangingPunct="0">
              <a:buNone/>
            </a:pPr>
            <a:r>
              <a:rPr lang="en-US" sz="1400" dirty="0"/>
              <a:t>Admin can view the feedback given by students for the hostel.</a:t>
            </a:r>
          </a:p>
          <a:p>
            <a:pPr marL="82296" indent="0" hangingPunct="0">
              <a:buNone/>
            </a:pPr>
            <a:r>
              <a:rPr lang="en-US" sz="1400" b="1" dirty="0"/>
              <a:t>9. Forgot Password</a:t>
            </a:r>
            <a:endParaRPr lang="en-US" sz="1400" dirty="0"/>
          </a:p>
          <a:p>
            <a:pPr marL="82296" indent="0" hangingPunct="0">
              <a:buNone/>
            </a:pPr>
            <a:r>
              <a:rPr lang="en-US" sz="1400" dirty="0"/>
              <a:t>Admin can also retrieve the password if admin forgot the password.</a:t>
            </a:r>
          </a:p>
          <a:p>
            <a:pPr>
              <a:buNone/>
            </a:pPr>
            <a:endParaRPr lang="en-US" sz="1400" dirty="0"/>
          </a:p>
          <a:p>
            <a:endParaRPr lang="en-IN" sz="1400" dirty="0"/>
          </a:p>
        </p:txBody>
      </p:sp>
    </p:spTree>
    <p:extLst>
      <p:ext uri="{BB962C8B-B14F-4D97-AF65-F5344CB8AC3E}">
        <p14:creationId xmlns:p14="http://schemas.microsoft.com/office/powerpoint/2010/main" val="424051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876F0-625E-3D96-1168-8A658A0211A5}"/>
              </a:ext>
            </a:extLst>
          </p:cNvPr>
          <p:cNvSpPr>
            <a:spLocks noGrp="1"/>
          </p:cNvSpPr>
          <p:nvPr>
            <p:ph type="title"/>
          </p:nvPr>
        </p:nvSpPr>
        <p:spPr/>
        <p:txBody>
          <a:bodyPr/>
          <a:lstStyle/>
          <a:p>
            <a:r>
              <a:rPr lang="en-US" sz="3200" dirty="0"/>
              <a:t>User Panel</a:t>
            </a:r>
            <a:endParaRPr lang="en-IN" sz="3200" dirty="0"/>
          </a:p>
        </p:txBody>
      </p:sp>
      <p:sp>
        <p:nvSpPr>
          <p:cNvPr id="3" name="Subtitle 2">
            <a:extLst>
              <a:ext uri="{FF2B5EF4-FFF2-40B4-BE49-F238E27FC236}">
                <a16:creationId xmlns:a16="http://schemas.microsoft.com/office/drawing/2014/main" id="{2C00CFBA-32B9-B9D0-3B96-CD327C92846A}"/>
              </a:ext>
            </a:extLst>
          </p:cNvPr>
          <p:cNvSpPr>
            <a:spLocks noGrp="1"/>
          </p:cNvSpPr>
          <p:nvPr>
            <p:ph type="subTitle"/>
          </p:nvPr>
        </p:nvSpPr>
        <p:spPr/>
        <p:txBody>
          <a:bodyPr/>
          <a:lstStyle/>
          <a:p>
            <a:pPr hangingPunct="0">
              <a:buNone/>
            </a:pPr>
            <a:endParaRPr lang="en-US" sz="1400" b="1" u="sng" dirty="0"/>
          </a:p>
          <a:p>
            <a:pPr hangingPunct="0">
              <a:buNone/>
            </a:pPr>
            <a:endParaRPr lang="en-US" sz="1400" b="1" u="sng" dirty="0"/>
          </a:p>
          <a:p>
            <a:pPr lvl="0" hangingPunct="0"/>
            <a:r>
              <a:rPr lang="en-US" sz="1400" b="1" dirty="0"/>
              <a:t>User Registration----</a:t>
            </a:r>
            <a:r>
              <a:rPr lang="en-US" sz="1400" dirty="0"/>
              <a:t> User can register through user registration form</a:t>
            </a:r>
          </a:p>
          <a:p>
            <a:pPr lvl="0" hangingPunct="0"/>
            <a:r>
              <a:rPr lang="en-US" sz="1400" b="1" dirty="0"/>
              <a:t>User Login--</a:t>
            </a:r>
            <a:r>
              <a:rPr lang="en-US" sz="1400" dirty="0"/>
              <a:t>  User can login through login form</a:t>
            </a:r>
          </a:p>
          <a:p>
            <a:pPr lvl="0" hangingPunct="0"/>
            <a:r>
              <a:rPr lang="en-US" sz="1400" b="1" dirty="0"/>
              <a:t>Forgot Password—</a:t>
            </a:r>
            <a:r>
              <a:rPr lang="en-US" sz="1400" dirty="0"/>
              <a:t>user can retrieve password through forgot password link</a:t>
            </a:r>
          </a:p>
          <a:p>
            <a:pPr lvl="0" hangingPunct="0"/>
            <a:r>
              <a:rPr lang="en-US" sz="1400" b="1" dirty="0"/>
              <a:t>User Dashboard</a:t>
            </a:r>
            <a:endParaRPr lang="en-US" sz="1400" dirty="0"/>
          </a:p>
          <a:p>
            <a:pPr lvl="0" hangingPunct="0"/>
            <a:r>
              <a:rPr lang="en-US" sz="1400" b="1" dirty="0"/>
              <a:t>User Profile—</a:t>
            </a:r>
            <a:r>
              <a:rPr lang="en-US" sz="1400" dirty="0"/>
              <a:t>User can manage own profile</a:t>
            </a:r>
          </a:p>
          <a:p>
            <a:pPr lvl="0" hangingPunct="0"/>
            <a:r>
              <a:rPr lang="en-US" sz="1400" b="1" dirty="0"/>
              <a:t>Book Hostel </a:t>
            </a:r>
            <a:r>
              <a:rPr lang="en-US" sz="1400" dirty="0"/>
              <a:t>– User can book hostel</a:t>
            </a:r>
          </a:p>
          <a:p>
            <a:pPr lvl="0" hangingPunct="0"/>
            <a:r>
              <a:rPr lang="en-US" sz="1400" b="1" dirty="0"/>
              <a:t>Room Details- </a:t>
            </a:r>
            <a:r>
              <a:rPr lang="en-US" sz="1400" dirty="0"/>
              <a:t>Booked Room Details</a:t>
            </a:r>
          </a:p>
          <a:p>
            <a:pPr lvl="0" hangingPunct="0"/>
            <a:r>
              <a:rPr lang="en-US" sz="1400" b="1" dirty="0"/>
              <a:t>Complaint Registration: </a:t>
            </a:r>
            <a:r>
              <a:rPr lang="en-US" sz="1400" dirty="0"/>
              <a:t>Student can lodge the complaint.</a:t>
            </a:r>
          </a:p>
          <a:p>
            <a:pPr lvl="0" hangingPunct="0"/>
            <a:r>
              <a:rPr lang="en-US" sz="1400" b="1" dirty="0"/>
              <a:t>Registered Complaint:</a:t>
            </a:r>
            <a:r>
              <a:rPr lang="en-US" sz="1400" dirty="0"/>
              <a:t> Student can check the registered complaint and their status.</a:t>
            </a:r>
          </a:p>
          <a:p>
            <a:pPr lvl="0" hangingPunct="0"/>
            <a:r>
              <a:rPr lang="en-US" sz="1400" b="1" dirty="0"/>
              <a:t>Feedback:</a:t>
            </a:r>
            <a:r>
              <a:rPr lang="en-US" sz="1400" dirty="0"/>
              <a:t> Student give their feedback for hostel.</a:t>
            </a:r>
          </a:p>
          <a:p>
            <a:pPr lvl="0" hangingPunct="0"/>
            <a:r>
              <a:rPr lang="en-US" sz="1400" b="1" dirty="0"/>
              <a:t>Change Password- </a:t>
            </a:r>
            <a:r>
              <a:rPr lang="en-US" sz="1400" dirty="0"/>
              <a:t>User Can change own password</a:t>
            </a:r>
          </a:p>
          <a:p>
            <a:pPr lvl="0" hangingPunct="0"/>
            <a:r>
              <a:rPr lang="en-US" sz="1400" b="1" dirty="0"/>
              <a:t>User access log- </a:t>
            </a:r>
            <a:r>
              <a:rPr lang="en-US" sz="1400" dirty="0"/>
              <a:t>User can watch last login details</a:t>
            </a:r>
          </a:p>
          <a:p>
            <a:endParaRPr lang="en-US" sz="1400" dirty="0"/>
          </a:p>
          <a:p>
            <a:endParaRPr lang="en-IN" sz="1400" dirty="0"/>
          </a:p>
        </p:txBody>
      </p:sp>
    </p:spTree>
    <p:extLst>
      <p:ext uri="{BB962C8B-B14F-4D97-AF65-F5344CB8AC3E}">
        <p14:creationId xmlns:p14="http://schemas.microsoft.com/office/powerpoint/2010/main" val="1782017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6CD4B-DFA0-7994-8BC3-8C875C752731}"/>
              </a:ext>
            </a:extLst>
          </p:cNvPr>
          <p:cNvSpPr>
            <a:spLocks noGrp="1"/>
          </p:cNvSpPr>
          <p:nvPr>
            <p:ph type="title"/>
          </p:nvPr>
        </p:nvSpPr>
        <p:spPr/>
        <p:txBody>
          <a:bodyPr/>
          <a:lstStyle/>
          <a:p>
            <a:r>
              <a:rPr lang="en-US" sz="3200" b="1" dirty="0"/>
              <a:t>SYSTEM ENVIRONMENT</a:t>
            </a:r>
            <a:endParaRPr lang="en-IN" sz="3200" dirty="0"/>
          </a:p>
        </p:txBody>
      </p:sp>
      <p:sp>
        <p:nvSpPr>
          <p:cNvPr id="3" name="Subtitle 2">
            <a:extLst>
              <a:ext uri="{FF2B5EF4-FFF2-40B4-BE49-F238E27FC236}">
                <a16:creationId xmlns:a16="http://schemas.microsoft.com/office/drawing/2014/main" id="{9F73C3B2-8370-00FA-5E83-BCA53D457A67}"/>
              </a:ext>
            </a:extLst>
          </p:cNvPr>
          <p:cNvSpPr>
            <a:spLocks noGrp="1"/>
          </p:cNvSpPr>
          <p:nvPr>
            <p:ph type="subTitle"/>
          </p:nvPr>
        </p:nvSpPr>
        <p:spPr/>
        <p:txBody>
          <a:bodyPr/>
          <a:lstStyle/>
          <a:p>
            <a:pPr>
              <a:buNone/>
            </a:pPr>
            <a:r>
              <a:rPr lang="en-US" sz="1400" b="1" u="sng" dirty="0"/>
              <a:t>Hardware Configuration</a:t>
            </a:r>
          </a:p>
          <a:p>
            <a:pPr>
              <a:buNone/>
            </a:pPr>
            <a:endParaRPr lang="en-US" sz="1400" dirty="0"/>
          </a:p>
          <a:p>
            <a:pPr lvl="0" hangingPunct="0"/>
            <a:r>
              <a:rPr lang="en-US" sz="1400" dirty="0"/>
              <a:t>Pentium IV Processor  </a:t>
            </a:r>
          </a:p>
          <a:p>
            <a:pPr lvl="0" hangingPunct="0"/>
            <a:r>
              <a:rPr lang="en-US" sz="1400" dirty="0"/>
              <a:t>512  MB RAM  </a:t>
            </a:r>
          </a:p>
          <a:p>
            <a:pPr lvl="0" hangingPunct="0"/>
            <a:r>
              <a:rPr lang="en-US" sz="1400" dirty="0"/>
              <a:t>40GB HDD </a:t>
            </a:r>
          </a:p>
          <a:p>
            <a:pPr lvl="0" hangingPunct="0"/>
            <a:r>
              <a:rPr lang="en-US" sz="1400" dirty="0"/>
              <a:t>1024 * 768 Resolution Color Monitor </a:t>
            </a:r>
          </a:p>
          <a:p>
            <a:pPr>
              <a:buNone/>
            </a:pPr>
            <a:r>
              <a:rPr lang="en-US" sz="1400" b="1" dirty="0"/>
              <a:t>Note: This is not the “System Requirements”.</a:t>
            </a:r>
          </a:p>
          <a:p>
            <a:pPr>
              <a:buNone/>
            </a:pPr>
            <a:endParaRPr lang="en-US" sz="1400" dirty="0"/>
          </a:p>
          <a:p>
            <a:pPr>
              <a:buNone/>
            </a:pPr>
            <a:r>
              <a:rPr lang="en-US" sz="1400" b="1" u="sng" dirty="0"/>
              <a:t>Software Configuration</a:t>
            </a:r>
          </a:p>
          <a:p>
            <a:pPr>
              <a:buNone/>
            </a:pPr>
            <a:endParaRPr lang="en-US" sz="1400" dirty="0"/>
          </a:p>
          <a:p>
            <a:pPr>
              <a:buNone/>
            </a:pPr>
            <a:r>
              <a:rPr lang="en-US" sz="1400" dirty="0"/>
              <a:t>1. OS : Windows XP </a:t>
            </a:r>
          </a:p>
          <a:p>
            <a:pPr>
              <a:buNone/>
            </a:pPr>
            <a:r>
              <a:rPr lang="en-US" sz="1400" dirty="0"/>
              <a:t>2.PHP Triad (PHP5.6, MySQL, Apache, and </a:t>
            </a:r>
            <a:r>
              <a:rPr lang="en-US" sz="1400" dirty="0" err="1"/>
              <a:t>PHPMyAdmin</a:t>
            </a:r>
            <a:r>
              <a:rPr lang="en-US" sz="1400" dirty="0"/>
              <a:t>)</a:t>
            </a:r>
          </a:p>
          <a:p>
            <a:pPr>
              <a:buNone/>
            </a:pPr>
            <a:endParaRPr lang="en-US" sz="1400" dirty="0"/>
          </a:p>
          <a:p>
            <a:endParaRPr lang="en-IN" sz="1400" dirty="0"/>
          </a:p>
        </p:txBody>
      </p:sp>
    </p:spTree>
    <p:extLst>
      <p:ext uri="{BB962C8B-B14F-4D97-AF65-F5344CB8AC3E}">
        <p14:creationId xmlns:p14="http://schemas.microsoft.com/office/powerpoint/2010/main" val="2541545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3BB4F-694F-43F3-E426-4E7332240AEB}"/>
              </a:ext>
            </a:extLst>
          </p:cNvPr>
          <p:cNvSpPr>
            <a:spLocks noGrp="1"/>
          </p:cNvSpPr>
          <p:nvPr>
            <p:ph type="title"/>
          </p:nvPr>
        </p:nvSpPr>
        <p:spPr/>
        <p:txBody>
          <a:bodyPr/>
          <a:lstStyle/>
          <a:p>
            <a:r>
              <a:rPr lang="en-IN" dirty="0"/>
              <a:t>Use Case Diagram</a:t>
            </a:r>
          </a:p>
        </p:txBody>
      </p:sp>
      <p:sp>
        <p:nvSpPr>
          <p:cNvPr id="3" name="Subtitle 2">
            <a:extLst>
              <a:ext uri="{FF2B5EF4-FFF2-40B4-BE49-F238E27FC236}">
                <a16:creationId xmlns:a16="http://schemas.microsoft.com/office/drawing/2014/main" id="{212BBA23-BB1A-3D81-D0C8-2A3BD4298ADD}"/>
              </a:ext>
            </a:extLst>
          </p:cNvPr>
          <p:cNvSpPr>
            <a:spLocks noGrp="1"/>
          </p:cNvSpPr>
          <p:nvPr>
            <p:ph type="subTitle"/>
          </p:nvPr>
        </p:nvSpPr>
        <p:spPr/>
        <p:txBody>
          <a:bodyPr/>
          <a:lstStyle/>
          <a:p>
            <a:endParaRPr lang="en-IN" dirty="0"/>
          </a:p>
        </p:txBody>
      </p:sp>
      <p:pic>
        <p:nvPicPr>
          <p:cNvPr id="4" name="Picture 3">
            <a:extLst>
              <a:ext uri="{FF2B5EF4-FFF2-40B4-BE49-F238E27FC236}">
                <a16:creationId xmlns:a16="http://schemas.microsoft.com/office/drawing/2014/main" id="{3223AE6D-C185-3BEC-27A4-0DC3E99260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625" y="914040"/>
            <a:ext cx="8534401" cy="5562759"/>
          </a:xfrm>
          <a:prstGeom prst="rect">
            <a:avLst/>
          </a:prstGeom>
        </p:spPr>
      </p:pic>
    </p:spTree>
    <p:extLst>
      <p:ext uri="{BB962C8B-B14F-4D97-AF65-F5344CB8AC3E}">
        <p14:creationId xmlns:p14="http://schemas.microsoft.com/office/powerpoint/2010/main" val="4061049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9DC80A5-F7B6-4356-4FA2-338672A06D19}"/>
              </a:ext>
            </a:extLst>
          </p:cNvPr>
          <p:cNvSpPr>
            <a:spLocks noGrp="1"/>
          </p:cNvSpPr>
          <p:nvPr>
            <p:ph type="subTitle"/>
          </p:nvPr>
        </p:nvSpPr>
        <p:spPr/>
        <p:txBody>
          <a:bodyPr/>
          <a:lstStyle/>
          <a:p>
            <a:endParaRPr lang="en-IN" dirty="0"/>
          </a:p>
        </p:txBody>
      </p:sp>
      <p:pic>
        <p:nvPicPr>
          <p:cNvPr id="4" name="Picture 3">
            <a:extLst>
              <a:ext uri="{FF2B5EF4-FFF2-40B4-BE49-F238E27FC236}">
                <a16:creationId xmlns:a16="http://schemas.microsoft.com/office/drawing/2014/main" id="{8A5B4ED7-E273-0851-74CD-E22EE274E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302" y="1000678"/>
            <a:ext cx="8642555" cy="5508277"/>
          </a:xfrm>
          <a:prstGeom prst="rect">
            <a:avLst/>
          </a:prstGeom>
        </p:spPr>
      </p:pic>
    </p:spTree>
    <p:extLst>
      <p:ext uri="{BB962C8B-B14F-4D97-AF65-F5344CB8AC3E}">
        <p14:creationId xmlns:p14="http://schemas.microsoft.com/office/powerpoint/2010/main" val="3942063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1B0D4-A176-FAD1-7E71-45196CFC79FA}"/>
              </a:ext>
            </a:extLst>
          </p:cNvPr>
          <p:cNvSpPr>
            <a:spLocks noGrp="1"/>
          </p:cNvSpPr>
          <p:nvPr>
            <p:ph type="title"/>
          </p:nvPr>
        </p:nvSpPr>
        <p:spPr/>
        <p:txBody>
          <a:bodyPr/>
          <a:lstStyle/>
          <a:p>
            <a:r>
              <a:rPr lang="en-IN" dirty="0"/>
              <a:t>ER Diagram</a:t>
            </a:r>
          </a:p>
        </p:txBody>
      </p:sp>
      <p:sp>
        <p:nvSpPr>
          <p:cNvPr id="3" name="Subtitle 2">
            <a:extLst>
              <a:ext uri="{FF2B5EF4-FFF2-40B4-BE49-F238E27FC236}">
                <a16:creationId xmlns:a16="http://schemas.microsoft.com/office/drawing/2014/main" id="{A7983448-2C6C-C5A7-907E-FA0304FF1B2E}"/>
              </a:ext>
            </a:extLst>
          </p:cNvPr>
          <p:cNvSpPr>
            <a:spLocks noGrp="1"/>
          </p:cNvSpPr>
          <p:nvPr>
            <p:ph type="subTitle"/>
          </p:nvPr>
        </p:nvSpPr>
        <p:spPr/>
        <p:txBody>
          <a:bodyPr/>
          <a:lstStyle/>
          <a:p>
            <a:endParaRPr lang="en-IN" dirty="0"/>
          </a:p>
        </p:txBody>
      </p:sp>
      <p:pic>
        <p:nvPicPr>
          <p:cNvPr id="4" name="Picture 2" descr="hmser">
            <a:extLst>
              <a:ext uri="{FF2B5EF4-FFF2-40B4-BE49-F238E27FC236}">
                <a16:creationId xmlns:a16="http://schemas.microsoft.com/office/drawing/2014/main" id="{11C343CB-B212-62FF-126C-811CC756922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199" y="1124744"/>
            <a:ext cx="8362335" cy="547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9515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92FE8-9704-6C19-ECF0-6CD091AE1B19}"/>
              </a:ext>
            </a:extLst>
          </p:cNvPr>
          <p:cNvSpPr>
            <a:spLocks noGrp="1"/>
          </p:cNvSpPr>
          <p:nvPr>
            <p:ph type="title"/>
          </p:nvPr>
        </p:nvSpPr>
        <p:spPr/>
        <p:txBody>
          <a:bodyPr/>
          <a:lstStyle/>
          <a:p>
            <a:r>
              <a:rPr lang="en-IN" dirty="0"/>
              <a:t>DATABASE DESIGN</a:t>
            </a:r>
          </a:p>
        </p:txBody>
      </p:sp>
      <p:sp>
        <p:nvSpPr>
          <p:cNvPr id="3" name="Subtitle 2">
            <a:extLst>
              <a:ext uri="{FF2B5EF4-FFF2-40B4-BE49-F238E27FC236}">
                <a16:creationId xmlns:a16="http://schemas.microsoft.com/office/drawing/2014/main" id="{F9DB684C-503A-7E2C-DA63-7C23F232AF12}"/>
              </a:ext>
            </a:extLst>
          </p:cNvPr>
          <p:cNvSpPr>
            <a:spLocks noGrp="1"/>
          </p:cNvSpPr>
          <p:nvPr>
            <p:ph type="subTitle"/>
          </p:nvPr>
        </p:nvSpPr>
        <p:spPr/>
        <p:txBody>
          <a:bodyPr/>
          <a:lstStyle/>
          <a:p>
            <a:pPr hangingPunct="0"/>
            <a:r>
              <a:rPr lang="en-US" sz="1400" dirty="0"/>
              <a:t>The data in the system has to be stored and retrieved from database. Designing the database is part of system design. Data elements and data structures to be stored have been identified at analysis stage. They are structured and put together to design the data storage and retrieval system.</a:t>
            </a:r>
          </a:p>
          <a:p>
            <a:pPr>
              <a:buNone/>
            </a:pPr>
            <a:endParaRPr lang="en-US" sz="1400" dirty="0"/>
          </a:p>
          <a:p>
            <a:pPr hangingPunct="0"/>
            <a:r>
              <a:rPr lang="en-US" sz="1400" dirty="0"/>
              <a:t>A database is a collection of interrelated data stored with minimum redundancy to serve many users quickly and efficiently. The general objective is to make database access easy, quick, inexpensive and flexible for the user. Relationships are established between the data items and unnecessary data items are removed. Normalization is done to get an internal consistency of data and to have minimum redundancy and maximum stability. This ensures minimizing data storage required, minimizing chances of data inconsistencies and optimizing for updates. The MySQL database has been chosen for developing the relevant databases.</a:t>
            </a:r>
          </a:p>
          <a:p>
            <a:pPr>
              <a:buNone/>
            </a:pPr>
            <a:endParaRPr lang="en-US" sz="1400" dirty="0"/>
          </a:p>
          <a:p>
            <a:endParaRPr lang="en-IN" sz="1400" dirty="0"/>
          </a:p>
        </p:txBody>
      </p:sp>
    </p:spTree>
    <p:extLst>
      <p:ext uri="{BB962C8B-B14F-4D97-AF65-F5344CB8AC3E}">
        <p14:creationId xmlns:p14="http://schemas.microsoft.com/office/powerpoint/2010/main" val="1995875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lass-hostel">
            <a:extLst>
              <a:ext uri="{FF2B5EF4-FFF2-40B4-BE49-F238E27FC236}">
                <a16:creationId xmlns:a16="http://schemas.microsoft.com/office/drawing/2014/main" id="{CC2F8FA2-4CEC-8C44-2309-B9E073A29E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014" y="914040"/>
            <a:ext cx="7349612" cy="5611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9242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B81FD-F71F-ACE4-6257-16C4CDD5F79C}"/>
              </a:ext>
            </a:extLst>
          </p:cNvPr>
          <p:cNvSpPr>
            <a:spLocks noGrp="1"/>
          </p:cNvSpPr>
          <p:nvPr>
            <p:ph type="title"/>
          </p:nvPr>
        </p:nvSpPr>
        <p:spPr/>
        <p:txBody>
          <a:bodyPr/>
          <a:lstStyle/>
          <a:p>
            <a:r>
              <a:rPr lang="en-US" sz="3200" b="1" dirty="0"/>
              <a:t>Data Flow Diagram (DFD)</a:t>
            </a:r>
            <a:endParaRPr lang="en-IN" sz="3200" dirty="0"/>
          </a:p>
        </p:txBody>
      </p:sp>
      <p:sp>
        <p:nvSpPr>
          <p:cNvPr id="3" name="Subtitle 2">
            <a:extLst>
              <a:ext uri="{FF2B5EF4-FFF2-40B4-BE49-F238E27FC236}">
                <a16:creationId xmlns:a16="http://schemas.microsoft.com/office/drawing/2014/main" id="{842FBAD5-18F1-071C-601A-E661C87DE8AC}"/>
              </a:ext>
            </a:extLst>
          </p:cNvPr>
          <p:cNvSpPr>
            <a:spLocks noGrp="1"/>
          </p:cNvSpPr>
          <p:nvPr>
            <p:ph type="subTitle"/>
          </p:nvPr>
        </p:nvSpPr>
        <p:spPr/>
        <p:txBody>
          <a:bodyPr/>
          <a:lstStyle/>
          <a:p>
            <a:pPr algn="just"/>
            <a:r>
              <a:rPr lang="en-US" sz="1400" dirty="0"/>
              <a:t>A Data Flow Diagram (DFD) is a graphical representation of the "flow" of data through an Information System. A data flow diagram can also be used for the visualization of Data Processing. It is common practice for a designer to draw a context-level DFD first which shows the interaction between the system and outside entities. This context-level DFD is then "exploded" to show more detail of the system being modeled.</a:t>
            </a:r>
          </a:p>
          <a:p>
            <a:pPr algn="just"/>
            <a:r>
              <a:rPr lang="en-US" sz="1400" dirty="0"/>
              <a:t>A DFD represents flow of data through a system. Data flow diagrams are commonly used during problem analysis. It views a system as a function that transforms the input into desired output. A DFD shows movement of data through the different transformations or processes in the system.</a:t>
            </a:r>
          </a:p>
          <a:p>
            <a:pPr algn="just"/>
            <a:r>
              <a:rPr lang="en-US" sz="1400" dirty="0"/>
              <a:t> Dataflow diagrams can be used to provide the end user with a physical idea of where the data they input ultimately has an effect upon the structure of the whole system from order to dispatch to restock how any system is developed can be determined through a dataflow diagram. The appropriate register saved in database and maintained by appropriate authorities.</a:t>
            </a:r>
          </a:p>
          <a:p>
            <a:endParaRPr lang="en-US" sz="1400" dirty="0"/>
          </a:p>
          <a:p>
            <a:endParaRPr lang="en-IN" sz="1400" dirty="0"/>
          </a:p>
        </p:txBody>
      </p:sp>
    </p:spTree>
    <p:extLst>
      <p:ext uri="{BB962C8B-B14F-4D97-AF65-F5344CB8AC3E}">
        <p14:creationId xmlns:p14="http://schemas.microsoft.com/office/powerpoint/2010/main" val="1772472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E512911-ABE3-935B-9E22-CC1BB4EDA1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673" y="951231"/>
            <a:ext cx="7746343" cy="5471555"/>
          </a:xfrm>
          <a:prstGeom prst="rect">
            <a:avLst/>
          </a:prstGeom>
        </p:spPr>
      </p:pic>
    </p:spTree>
    <p:extLst>
      <p:ext uri="{BB962C8B-B14F-4D97-AF65-F5344CB8AC3E}">
        <p14:creationId xmlns:p14="http://schemas.microsoft.com/office/powerpoint/2010/main" val="3340555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6B6DAC-5E56-B136-2349-FCAA08028A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928" y="1032386"/>
            <a:ext cx="7632144" cy="5587277"/>
          </a:xfrm>
          <a:prstGeom prst="rect">
            <a:avLst/>
          </a:prstGeom>
        </p:spPr>
      </p:pic>
    </p:spTree>
    <p:extLst>
      <p:ext uri="{BB962C8B-B14F-4D97-AF65-F5344CB8AC3E}">
        <p14:creationId xmlns:p14="http://schemas.microsoft.com/office/powerpoint/2010/main" val="3689459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49F4D47-C4F1-E009-B5D3-5D79DE5D64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512" y="1007004"/>
            <a:ext cx="7560840" cy="5515716"/>
          </a:xfrm>
          <a:prstGeom prst="rect">
            <a:avLst/>
          </a:prstGeom>
        </p:spPr>
      </p:pic>
    </p:spTree>
    <p:extLst>
      <p:ext uri="{BB962C8B-B14F-4D97-AF65-F5344CB8AC3E}">
        <p14:creationId xmlns:p14="http://schemas.microsoft.com/office/powerpoint/2010/main" val="874544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E8D1029-BC7F-4055-DC02-0532AC5F48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335" y="973393"/>
            <a:ext cx="7056784" cy="5708039"/>
          </a:xfrm>
          <a:prstGeom prst="rect">
            <a:avLst/>
          </a:prstGeom>
        </p:spPr>
      </p:pic>
    </p:spTree>
    <p:extLst>
      <p:ext uri="{BB962C8B-B14F-4D97-AF65-F5344CB8AC3E}">
        <p14:creationId xmlns:p14="http://schemas.microsoft.com/office/powerpoint/2010/main" val="2993172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B0491-FB2A-E057-2F3C-A13774131556}"/>
              </a:ext>
            </a:extLst>
          </p:cNvPr>
          <p:cNvSpPr>
            <a:spLocks noGrp="1"/>
          </p:cNvSpPr>
          <p:nvPr>
            <p:ph type="title"/>
          </p:nvPr>
        </p:nvSpPr>
        <p:spPr/>
        <p:txBody>
          <a:bodyPr/>
          <a:lstStyle/>
          <a:p>
            <a:r>
              <a:rPr lang="en-US" b="1" dirty="0"/>
              <a:t>SYSTEM TESTING</a:t>
            </a:r>
            <a:endParaRPr lang="en-IN" dirty="0"/>
          </a:p>
        </p:txBody>
      </p:sp>
      <p:sp>
        <p:nvSpPr>
          <p:cNvPr id="3" name="Subtitle 2">
            <a:extLst>
              <a:ext uri="{FF2B5EF4-FFF2-40B4-BE49-F238E27FC236}">
                <a16:creationId xmlns:a16="http://schemas.microsoft.com/office/drawing/2014/main" id="{84F4E7E2-DD02-1E31-C657-FEB027E1C530}"/>
              </a:ext>
            </a:extLst>
          </p:cNvPr>
          <p:cNvSpPr>
            <a:spLocks noGrp="1"/>
          </p:cNvSpPr>
          <p:nvPr>
            <p:ph type="subTitle"/>
          </p:nvPr>
        </p:nvSpPr>
        <p:spPr/>
        <p:txBody>
          <a:bodyPr/>
          <a:lstStyle/>
          <a:p>
            <a:pPr>
              <a:buNone/>
            </a:pPr>
            <a:endParaRPr lang="en-IN" sz="1400" dirty="0"/>
          </a:p>
          <a:p>
            <a:pPr hangingPunct="0"/>
            <a:r>
              <a:rPr lang="en-US" sz="1400" dirty="0"/>
              <a:t>System testing is the stage of implementation, which is aimed at ensuring that the system works accurately and efficiently before live operation commences. Testing is the process of executing the program with the intent of finding errors and missing operations and also a complete verification to determine whether the objectives are met and the user requirements are satisfied. The ultimate aim is quality assurance.</a:t>
            </a:r>
          </a:p>
          <a:p>
            <a:pPr>
              <a:buNone/>
            </a:pPr>
            <a:r>
              <a:rPr lang="en-US" sz="1400" dirty="0"/>
              <a:t> </a:t>
            </a:r>
          </a:p>
          <a:p>
            <a:pPr hangingPunct="0"/>
            <a:r>
              <a:rPr lang="en-US" sz="1400" dirty="0"/>
              <a:t>Tests are carried out and the results are compared with the expected document. In the case of erroneous results, debugging is done. Using detailed testing strategies a test plan is carried out on each module. The various tests performed in “</a:t>
            </a:r>
            <a:r>
              <a:rPr lang="en-US" sz="1400" b="1" dirty="0"/>
              <a:t>Network Backup System</a:t>
            </a:r>
            <a:r>
              <a:rPr lang="en-US" sz="1400" dirty="0"/>
              <a:t>” are unit testing, integration testing and user acceptance testing.</a:t>
            </a:r>
          </a:p>
          <a:p>
            <a:pPr>
              <a:buNone/>
            </a:pPr>
            <a:endParaRPr lang="en-US" sz="1400" dirty="0"/>
          </a:p>
          <a:p>
            <a:endParaRPr lang="en-IN" sz="1400" dirty="0"/>
          </a:p>
        </p:txBody>
      </p:sp>
    </p:spTree>
    <p:extLst>
      <p:ext uri="{BB962C8B-B14F-4D97-AF65-F5344CB8AC3E}">
        <p14:creationId xmlns:p14="http://schemas.microsoft.com/office/powerpoint/2010/main" val="1820633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69A2451-0940-8A9C-EE6F-EE82527CDAE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68893" y="1268760"/>
            <a:ext cx="6840760" cy="432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44501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31F5E54D-9CD6-8913-5E9B-F8797DB3DD2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1474" y="939074"/>
            <a:ext cx="6984776"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3">
            <a:extLst>
              <a:ext uri="{FF2B5EF4-FFF2-40B4-BE49-F238E27FC236}">
                <a16:creationId xmlns:a16="http://schemas.microsoft.com/office/drawing/2014/main" id="{84EF9066-6AB7-2AAA-A4BB-3EFD6E8115F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1474" y="3766411"/>
            <a:ext cx="6840760" cy="290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75284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BE1DEBD9-55BE-5A36-91CC-0941C58330D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6810" y="873430"/>
            <a:ext cx="7488832"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5">
            <a:extLst>
              <a:ext uri="{FF2B5EF4-FFF2-40B4-BE49-F238E27FC236}">
                <a16:creationId xmlns:a16="http://schemas.microsoft.com/office/drawing/2014/main" id="{DA79398A-CB82-D0B2-0762-78FD103AEF0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6810" y="3789257"/>
            <a:ext cx="7328058"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213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7">
            <a:extLst>
              <a:ext uri="{FF2B5EF4-FFF2-40B4-BE49-F238E27FC236}">
                <a16:creationId xmlns:a16="http://schemas.microsoft.com/office/drawing/2014/main" id="{6AA93A50-D69D-A253-A6BA-E5A4B8DE81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041" y="1103040"/>
            <a:ext cx="7272808" cy="489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7091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9E051C0F-89C4-D4E4-C8B0-039CD6624BF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1258529"/>
            <a:ext cx="7056784" cy="4950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34927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B600CC5A-485A-7766-8EB4-3CFF430FF1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5596" y="850583"/>
            <a:ext cx="7272808"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9">
            <a:extLst>
              <a:ext uri="{FF2B5EF4-FFF2-40B4-BE49-F238E27FC236}">
                <a16:creationId xmlns:a16="http://schemas.microsoft.com/office/drawing/2014/main" id="{A86FF5FA-C664-60AC-1C5A-649665EB7D2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5596" y="3684067"/>
            <a:ext cx="7056784"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539069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76B60AD2-F28C-A142-C53E-F65E1D6F4A9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3047" y="916227"/>
            <a:ext cx="7488832" cy="290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1">
            <a:extLst>
              <a:ext uri="{FF2B5EF4-FFF2-40B4-BE49-F238E27FC236}">
                <a16:creationId xmlns:a16="http://schemas.microsoft.com/office/drawing/2014/main" id="{77F6B0FD-D5DA-D6E2-033F-177765F0C88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3047" y="3819764"/>
            <a:ext cx="7272808" cy="290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98812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9DCB6CB6-BF1D-D0C5-67F5-1EFE4462A5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419" y="840751"/>
            <a:ext cx="7344816"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3">
            <a:extLst>
              <a:ext uri="{FF2B5EF4-FFF2-40B4-BE49-F238E27FC236}">
                <a16:creationId xmlns:a16="http://schemas.microsoft.com/office/drawing/2014/main" id="{BC7F59C6-8886-5220-FDF2-D1BF55E933A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419" y="3668088"/>
            <a:ext cx="7182373"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18839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4">
            <a:extLst>
              <a:ext uri="{FF2B5EF4-FFF2-40B4-BE49-F238E27FC236}">
                <a16:creationId xmlns:a16="http://schemas.microsoft.com/office/drawing/2014/main" id="{53E4E31B-B78D-85CC-3A50-E840CFF6F50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0525" y="971753"/>
            <a:ext cx="7344816"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6">
            <a:extLst>
              <a:ext uri="{FF2B5EF4-FFF2-40B4-BE49-F238E27FC236}">
                <a16:creationId xmlns:a16="http://schemas.microsoft.com/office/drawing/2014/main" id="{DE6C8C0A-EC92-7E28-4544-5D4D7B984A2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0525" y="3429000"/>
            <a:ext cx="7416824" cy="28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04040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7">
            <a:extLst>
              <a:ext uri="{FF2B5EF4-FFF2-40B4-BE49-F238E27FC236}">
                <a16:creationId xmlns:a16="http://schemas.microsoft.com/office/drawing/2014/main" id="{6B7D095B-C759-06DA-9EDD-94CA4CBED56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2960" y="938257"/>
            <a:ext cx="7339590"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8">
            <a:extLst>
              <a:ext uri="{FF2B5EF4-FFF2-40B4-BE49-F238E27FC236}">
                <a16:creationId xmlns:a16="http://schemas.microsoft.com/office/drawing/2014/main" id="{E712D712-08FA-3DFF-AFE4-9E8222C4439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2960" y="3765594"/>
            <a:ext cx="7560840" cy="282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44085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4">
            <a:extLst>
              <a:ext uri="{FF2B5EF4-FFF2-40B4-BE49-F238E27FC236}">
                <a16:creationId xmlns:a16="http://schemas.microsoft.com/office/drawing/2014/main" id="{924F2A64-950F-E9EF-7BDA-F581DF4FC9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9612" y="914400"/>
            <a:ext cx="6984776" cy="5690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91373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1">
            <a:extLst>
              <a:ext uri="{FF2B5EF4-FFF2-40B4-BE49-F238E27FC236}">
                <a16:creationId xmlns:a16="http://schemas.microsoft.com/office/drawing/2014/main" id="{10DBEAC3-1CD4-3E13-733C-8954042ABAA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8177" y="830919"/>
            <a:ext cx="7056784" cy="5760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80509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2">
            <a:extLst>
              <a:ext uri="{FF2B5EF4-FFF2-40B4-BE49-F238E27FC236}">
                <a16:creationId xmlns:a16="http://schemas.microsoft.com/office/drawing/2014/main" id="{9B3B67A6-0553-205E-1BBF-6973D58026A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3608" y="2236932"/>
            <a:ext cx="7056784" cy="28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62825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FCE76-7EB1-5FB4-DCFD-8582C865CAF8}"/>
              </a:ext>
            </a:extLst>
          </p:cNvPr>
          <p:cNvSpPr>
            <a:spLocks noGrp="1"/>
          </p:cNvSpPr>
          <p:nvPr>
            <p:ph type="title"/>
          </p:nvPr>
        </p:nvSpPr>
        <p:spPr/>
        <p:txBody>
          <a:bodyPr/>
          <a:lstStyle/>
          <a:p>
            <a:r>
              <a:rPr lang="en-US" b="1" dirty="0"/>
              <a:t>CONCLUSION</a:t>
            </a:r>
            <a:endParaRPr lang="en-IN" dirty="0"/>
          </a:p>
        </p:txBody>
      </p:sp>
      <p:sp>
        <p:nvSpPr>
          <p:cNvPr id="3" name="Subtitle 2">
            <a:extLst>
              <a:ext uri="{FF2B5EF4-FFF2-40B4-BE49-F238E27FC236}">
                <a16:creationId xmlns:a16="http://schemas.microsoft.com/office/drawing/2014/main" id="{0E514B39-8525-02FE-E867-44726E3CF6BF}"/>
              </a:ext>
            </a:extLst>
          </p:cNvPr>
          <p:cNvSpPr>
            <a:spLocks noGrp="1"/>
          </p:cNvSpPr>
          <p:nvPr>
            <p:ph type="subTitle"/>
          </p:nvPr>
        </p:nvSpPr>
        <p:spPr/>
        <p:txBody>
          <a:bodyPr/>
          <a:lstStyle/>
          <a:p>
            <a:pPr hangingPunct="0"/>
            <a:r>
              <a:rPr lang="en-US" sz="1400" dirty="0"/>
              <a:t>To conclude the description about the project : The project, developed using PHP and MySQL is based on the requirement specification of the user and the analysis of the existing system, with flexibility for future enhancement.</a:t>
            </a:r>
          </a:p>
          <a:p>
            <a:pPr hangingPunct="0">
              <a:buNone/>
            </a:pPr>
            <a:endParaRPr lang="en-US" sz="1400" dirty="0"/>
          </a:p>
          <a:p>
            <a:pPr hangingPunct="0"/>
            <a:r>
              <a:rPr lang="en-US" sz="1400" dirty="0"/>
              <a:t>The expanded functionality of today’s software requires an appropriate approach towards software development. This hostel management software is designed for people who want to manage various </a:t>
            </a:r>
            <a:r>
              <a:rPr lang="en-US" sz="1400" dirty="0" err="1"/>
              <a:t>activi</a:t>
            </a:r>
            <a:r>
              <a:rPr lang="en-US" sz="1400" dirty="0"/>
              <a:t>-ties in the hostel. For the past few years the number of educational institutions are increasing rapidly.</a:t>
            </a:r>
          </a:p>
          <a:p>
            <a:pPr>
              <a:buNone/>
            </a:pPr>
            <a:endParaRPr lang="en-US" sz="1400" dirty="0"/>
          </a:p>
          <a:p>
            <a:pPr hangingPunct="0"/>
            <a:r>
              <a:rPr lang="en-US" sz="1400" dirty="0"/>
              <a:t>Thereby the number of hostels are also increasing for the accommodation of the students studying in this institution. And hence there is a lot of strain on the person who are running the hostel and software’s are not usually used in this context. This particular project deals with the problems on managing a hostel and avoids the problems which occur when carried manually.</a:t>
            </a:r>
          </a:p>
          <a:p>
            <a:pPr>
              <a:buNone/>
            </a:pPr>
            <a:r>
              <a:rPr lang="en-US" sz="1400" dirty="0"/>
              <a:t> </a:t>
            </a:r>
          </a:p>
          <a:p>
            <a:pPr hangingPunct="0"/>
            <a:r>
              <a:rPr lang="en-US" sz="1400" dirty="0"/>
              <a:t>Identification of the drawbacks of the existing system leads to the designing of computerized system that will be compatible to the existing system with the system which is more user friendly and more GUI oriented.</a:t>
            </a:r>
          </a:p>
          <a:p>
            <a:pPr>
              <a:buNone/>
            </a:pPr>
            <a:endParaRPr lang="en-US" sz="1400" dirty="0"/>
          </a:p>
          <a:p>
            <a:endParaRPr lang="en-IN" sz="1400" dirty="0"/>
          </a:p>
        </p:txBody>
      </p:sp>
    </p:spTree>
    <p:extLst>
      <p:ext uri="{BB962C8B-B14F-4D97-AF65-F5344CB8AC3E}">
        <p14:creationId xmlns:p14="http://schemas.microsoft.com/office/powerpoint/2010/main" val="18056928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83FBD-0699-BE93-F23E-60AA94EEACC4}"/>
              </a:ext>
            </a:extLst>
          </p:cNvPr>
          <p:cNvSpPr>
            <a:spLocks noGrp="1"/>
          </p:cNvSpPr>
          <p:nvPr>
            <p:ph type="title"/>
          </p:nvPr>
        </p:nvSpPr>
        <p:spPr/>
        <p:txBody>
          <a:bodyPr/>
          <a:lstStyle/>
          <a:p>
            <a:r>
              <a:rPr lang="en-US" b="1" dirty="0"/>
              <a:t>BIBILIOGRAPHY</a:t>
            </a:r>
            <a:endParaRPr lang="en-IN" dirty="0"/>
          </a:p>
        </p:txBody>
      </p:sp>
      <p:sp>
        <p:nvSpPr>
          <p:cNvPr id="3" name="Subtitle 2">
            <a:extLst>
              <a:ext uri="{FF2B5EF4-FFF2-40B4-BE49-F238E27FC236}">
                <a16:creationId xmlns:a16="http://schemas.microsoft.com/office/drawing/2014/main" id="{F4F0438D-7A86-8968-5A05-45200C2C442E}"/>
              </a:ext>
            </a:extLst>
          </p:cNvPr>
          <p:cNvSpPr>
            <a:spLocks noGrp="1"/>
          </p:cNvSpPr>
          <p:nvPr>
            <p:ph type="subTitle"/>
          </p:nvPr>
        </p:nvSpPr>
        <p:spPr/>
        <p:txBody>
          <a:bodyPr/>
          <a:lstStyle/>
          <a:p>
            <a:pPr lvl="0" hangingPunct="0"/>
            <a:r>
              <a:rPr lang="en-US" sz="1400" dirty="0"/>
              <a:t>www.w3schools.com </a:t>
            </a:r>
          </a:p>
          <a:p>
            <a:pPr lvl="0" hangingPunct="0"/>
            <a:r>
              <a:rPr lang="en-US" sz="1400" i="1" dirty="0"/>
              <a:t>in.</a:t>
            </a:r>
            <a:r>
              <a:rPr lang="en-US" sz="1400" b="1" i="1" dirty="0"/>
              <a:t>php</a:t>
            </a:r>
            <a:r>
              <a:rPr lang="en-US" sz="1400" i="1" dirty="0"/>
              <a:t>.net </a:t>
            </a:r>
            <a:endParaRPr lang="en-US" sz="1400" dirty="0"/>
          </a:p>
          <a:p>
            <a:r>
              <a:rPr lang="en-US" sz="1400" i="1" dirty="0"/>
              <a:t> en.wikipedia.org/wiki/</a:t>
            </a:r>
            <a:r>
              <a:rPr lang="en-US" sz="1400" b="1" i="1" dirty="0"/>
              <a:t>PHP</a:t>
            </a:r>
            <a:r>
              <a:rPr lang="en-US" sz="1400" i="1" dirty="0"/>
              <a:t> </a:t>
            </a:r>
            <a:endParaRPr lang="en-US" sz="1400" dirty="0"/>
          </a:p>
          <a:p>
            <a:pPr lvl="0"/>
            <a:r>
              <a:rPr lang="en-US" sz="1400" dirty="0"/>
              <a:t>www.hotscripts.com/category/</a:t>
            </a:r>
            <a:r>
              <a:rPr lang="en-US" sz="1400" b="1" dirty="0"/>
              <a:t>php</a:t>
            </a:r>
            <a:r>
              <a:rPr lang="en-US" sz="1400" dirty="0"/>
              <a:t>/</a:t>
            </a:r>
          </a:p>
          <a:p>
            <a:pPr lvl="0" hangingPunct="0"/>
            <a:r>
              <a:rPr lang="en-US" sz="1400" dirty="0"/>
              <a:t>www.</a:t>
            </a:r>
            <a:r>
              <a:rPr lang="en-US" sz="1400" b="1" dirty="0"/>
              <a:t>apache</a:t>
            </a:r>
            <a:r>
              <a:rPr lang="en-US" sz="1400" dirty="0"/>
              <a:t>.org/ </a:t>
            </a:r>
          </a:p>
          <a:p>
            <a:pPr lvl="0" hangingPunct="0"/>
            <a:r>
              <a:rPr lang="en-US" sz="1400" dirty="0"/>
              <a:t>www.</a:t>
            </a:r>
            <a:r>
              <a:rPr lang="en-US" sz="1400" b="1" dirty="0"/>
              <a:t>mysql</a:t>
            </a:r>
            <a:r>
              <a:rPr lang="en-US" sz="1400" dirty="0"/>
              <a:t>.com/click.php?e=35050 </a:t>
            </a:r>
            <a:br>
              <a:rPr lang="en-US" sz="1400" dirty="0"/>
            </a:br>
            <a:endParaRPr lang="en-US" sz="1400" dirty="0"/>
          </a:p>
          <a:p>
            <a:endParaRPr lang="en-IN" sz="1400" dirty="0"/>
          </a:p>
        </p:txBody>
      </p:sp>
    </p:spTree>
    <p:extLst>
      <p:ext uri="{BB962C8B-B14F-4D97-AF65-F5344CB8AC3E}">
        <p14:creationId xmlns:p14="http://schemas.microsoft.com/office/powerpoint/2010/main" val="20361715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33</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2.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34754</TotalTime>
  <Words>1315</Words>
  <Application>Microsoft Office PowerPoint</Application>
  <PresentationFormat>On-screen Show (4:3)</PresentationFormat>
  <Paragraphs>110</Paragraphs>
  <Slides>33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Times New Roman</vt:lpstr>
      <vt:lpstr>Office Theme</vt:lpstr>
      <vt:lpstr>PowerPoint Presentation</vt:lpstr>
      <vt:lpstr>PowerPoint Presentation</vt:lpstr>
      <vt:lpstr>     INTRODUCTION</vt:lpstr>
      <vt:lpstr>PowerPoint Presentation</vt:lpstr>
      <vt:lpstr>User Panel</vt:lpstr>
      <vt:lpstr>SYSTEM ENVIRONMENT</vt:lpstr>
      <vt:lpstr>Use Case Diagram</vt:lpstr>
      <vt:lpstr>PowerPoint Presentation</vt:lpstr>
      <vt:lpstr>ER Diagram</vt:lpstr>
      <vt:lpstr>DATABASE DESIGN</vt:lpstr>
      <vt:lpstr>PowerPoint Presentation</vt:lpstr>
      <vt:lpstr>Data Flow Diagram (DFD)</vt:lpstr>
      <vt:lpstr>PowerPoint Presentation</vt:lpstr>
      <vt:lpstr>PowerPoint Presentation</vt:lpstr>
      <vt:lpstr>PowerPoint Presentation</vt:lpstr>
      <vt:lpstr>PowerPoint Presentation</vt:lpstr>
      <vt:lpstr>SYSTEM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BIBILIOGRAPHY</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Tensai X</cp:lastModifiedBy>
  <cp:revision>2301</cp:revision>
  <dcterms:created xsi:type="dcterms:W3CDTF">2010-04-09T07:36:15Z</dcterms:created>
  <dcterms:modified xsi:type="dcterms:W3CDTF">2026-05-14T05:17:24Z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